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2" r:id="rId8"/>
    <p:sldId id="260" r:id="rId9"/>
    <p:sldId id="265" r:id="rId10"/>
    <p:sldId id="266" r:id="rId11"/>
    <p:sldId id="268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8B066E-77BE-44C0-AA6A-340853A9E491}" v="31" dt="2025-12-28T12:56:11.5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D9CBADC-B8C6-4DF1-B3AA-19CE826B520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1D4E75-18F1-4B70-98C6-9CB35C943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39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BADC-B8C6-4DF1-B3AA-19CE826B520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C1D4E75-18F1-4B70-98C6-9CB35C943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378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D9CBADC-B8C6-4DF1-B3AA-19CE826B520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1D4E75-18F1-4B70-98C6-9CB35C943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129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BADC-B8C6-4DF1-B3AA-19CE826B520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4E75-18F1-4B70-98C6-9CB35C943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83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BADC-B8C6-4DF1-B3AA-19CE826B520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4E75-18F1-4B70-98C6-9CB35C943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53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BADC-B8C6-4DF1-B3AA-19CE826B520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4E75-18F1-4B70-98C6-9CB35C943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39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BADC-B8C6-4DF1-B3AA-19CE826B520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4E75-18F1-4B70-98C6-9CB35C943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23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D9CBADC-B8C6-4DF1-B3AA-19CE826B520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1D4E75-18F1-4B70-98C6-9CB35C943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17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BADC-B8C6-4DF1-B3AA-19CE826B520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4E75-18F1-4B70-98C6-9CB35C943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72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BADC-B8C6-4DF1-B3AA-19CE826B520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4E75-18F1-4B70-98C6-9CB35C943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686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D9CBADC-B8C6-4DF1-B3AA-19CE826B520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1D4E75-18F1-4B70-98C6-9CB35C943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37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D9CBADC-B8C6-4DF1-B3AA-19CE826B520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C1D4E75-18F1-4B70-98C6-9CB35C9434A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6786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BD71E-C9CD-3F38-06CC-51BDE8DB4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87" y="788440"/>
            <a:ext cx="10993549" cy="1475013"/>
          </a:xfrm>
        </p:spPr>
        <p:txBody>
          <a:bodyPr/>
          <a:lstStyle/>
          <a:p>
            <a:pPr>
              <a:spcAft>
                <a:spcPts val="600"/>
              </a:spcAft>
              <a:defRPr sz="3600" b="1" i="0"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(JUNE - 2026)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24CA-5385-3AA6-EED6-608B25D91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0" y="2279135"/>
            <a:ext cx="10993546" cy="590321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  <a:defRPr sz="1800" b="0" i="1"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 b="0" i="1">
                <a:latin typeface="Calibri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 Institute of Technology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B6AB3-4E89-7B72-1E68-CDC0A244B222}"/>
              </a:ext>
            </a:extLst>
          </p:cNvPr>
          <p:cNvSpPr txBox="1"/>
          <p:nvPr/>
        </p:nvSpPr>
        <p:spPr>
          <a:xfrm>
            <a:off x="581190" y="3393061"/>
            <a:ext cx="109935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Vasanth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avel K</a:t>
            </a:r>
            <a:endParaRPr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NO: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24CS1021</a:t>
            </a:r>
            <a:endParaRPr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SEMESTER: V</a:t>
            </a: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Design and Optimization of an Agentic RAG Context Engine &amp; Multi-Agent Orchestration Platform</a:t>
            </a:r>
          </a:p>
        </p:txBody>
      </p:sp>
    </p:spTree>
    <p:extLst>
      <p:ext uri="{BB962C8B-B14F-4D97-AF65-F5344CB8AC3E}">
        <p14:creationId xmlns:p14="http://schemas.microsoft.com/office/powerpoint/2010/main" val="468926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1324-5823-2B7E-2EEA-946CDEC1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2800" b="1" i="0"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3BE6922-EC77-83B5-E509-7C953CD31C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8000" y="2492776"/>
            <a:ext cx="1070543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autonomous software development, monolithic LLM developer prompts suffer from context window limits, high latency, and expensive API costs.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focuses on designing a modular, supervisor-directed RAG framework that isolates agent concerns into a collaborative state graph using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introduce surgical context reduction tools, dynamic hybrid retrieval, and semantic query caching to optimize token load and inference latency.</a:t>
            </a:r>
          </a:p>
        </p:txBody>
      </p:sp>
    </p:spTree>
    <p:extLst>
      <p:ext uri="{BB962C8B-B14F-4D97-AF65-F5344CB8AC3E}">
        <p14:creationId xmlns:p14="http://schemas.microsoft.com/office/powerpoint/2010/main" val="350470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99242-401A-14BE-17E2-1866AF56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2800" b="1" i="0"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Goals of the Internship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F95F6-D50D-0F1F-CAB2-DB3E36D9B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a production-grade multi-agent coordination system using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Supervisor routing pattern.</a:t>
            </a: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Configure a robust hybrid search index using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Weaviate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(BM25 + Semantic) with local fallback databases.</a:t>
            </a: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 surgical context compression, symbol-based signature fetchers, and diff-based code generators (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apply_surgical_edit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Debug and resolve live API routing issues, caching crashes, and safety boundary constraints on a multi-repo codebase.</a:t>
            </a:r>
          </a:p>
        </p:txBody>
      </p:sp>
    </p:spTree>
    <p:extLst>
      <p:ext uri="{BB962C8B-B14F-4D97-AF65-F5344CB8AC3E}">
        <p14:creationId xmlns:p14="http://schemas.microsoft.com/office/powerpoint/2010/main" val="481034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9416-5FDB-4819-12A4-C205F7E3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2800" b="1" i="0"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Why Modular RAG &amp; Multi-Agents?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D54F52F-C1E8-DD08-46A3-1FB9A5AB57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238" y="2098199"/>
            <a:ext cx="11159067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Feeding entire code files and log streams to LLMs results in 'lost in the middle' problems, poor code generation, and high costs.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Isolating complex tasks (retrieval, search, code writing, execution, criticism) into specialized worker agents improves system reliability.</a:t>
            </a: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adopting a surgical diff-based editing tool (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apply_surgical_edit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we target only the modified functions, bypassing the need to regenerate unaltered boilerplate code, which reduces latency from ~30s to &lt;1s.</a:t>
            </a:r>
          </a:p>
        </p:txBody>
      </p:sp>
    </p:spTree>
    <p:extLst>
      <p:ext uri="{BB962C8B-B14F-4D97-AF65-F5344CB8AC3E}">
        <p14:creationId xmlns:p14="http://schemas.microsoft.com/office/powerpoint/2010/main" val="1518205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7DA0-125F-08A9-B715-8F843DD2A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42" y="737568"/>
            <a:ext cx="11029616" cy="1013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 sz="2800" b="1" i="0"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Multi-Agent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0DDB8-2BB4-7E0A-AEE7-6C85A7243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600"/>
              </a:spcAft>
              <a:buNone/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Supervisor Pattern: Coordinates routing using a central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state. Dispatches subtasks and resumes state upon worker outputs.</a:t>
            </a: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RAG Worker: Queries indexed knowledge via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Weaviate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returns grounded document matches.</a:t>
            </a: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Coding &amp; Critic Workers: The Coding Worker generates structural modifications; the Critic Worker verifies code safety and syntactical accuracy.</a:t>
            </a: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 &amp; Scraper Workers: Fetch live web data (via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Tavily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API) and extract raw text from target links.</a:t>
            </a: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Utility Worker: Computes statistics and manages session history.</a:t>
            </a:r>
          </a:p>
        </p:txBody>
      </p:sp>
    </p:spTree>
    <p:extLst>
      <p:ext uri="{BB962C8B-B14F-4D97-AF65-F5344CB8AC3E}">
        <p14:creationId xmlns:p14="http://schemas.microsoft.com/office/powerpoint/2010/main" val="1051696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9469-BD93-7436-720D-695A144A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2800" b="1" i="0"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Core Retrieval Innovations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4DE3C-6B99-6F1C-5EC2-C638336166D1}"/>
              </a:ext>
            </a:extLst>
          </p:cNvPr>
          <p:cNvSpPr txBox="1"/>
          <p:nvPr/>
        </p:nvSpPr>
        <p:spPr>
          <a:xfrm>
            <a:off x="581192" y="2022507"/>
            <a:ext cx="11029615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Dynamic Hybrid Retrieval (Alpha Shifts): Automatically detects query type. For technical/code queries, shifts alpha to keyword-matching (0.25); for natural language, shifts to semantic (0.75).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ts val="600"/>
              </a:spcAft>
              <a:defRPr sz="1400" b="0" i="0">
                <a:latin typeface="Calibri"/>
              </a:defRPr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Semantic Cache Layer: An in-memory, query-hash keyed cache matching previous queries to bypass vector DB calls entirely, eliminating latency for repeated questions.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Neural Reranking: Employs a local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FlashRank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Reranker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(ms-marco-MiniLM-L-6-v2) to filter initial search outputs and surface high-relevance chunks.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Hybrid Local Database Fallback: Uses a local JSON/SQLite vector store when cloud connectivity is degraded, ensuring zero uptime dependency.</a:t>
            </a:r>
          </a:p>
        </p:txBody>
      </p:sp>
    </p:spTree>
    <p:extLst>
      <p:ext uri="{BB962C8B-B14F-4D97-AF65-F5344CB8AC3E}">
        <p14:creationId xmlns:p14="http://schemas.microsoft.com/office/powerpoint/2010/main" val="2557586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EA3B5-9D79-265F-7602-B2206316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2800" b="1" i="0"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Visuals: RAG &amp; Orchestration Engine Flow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3ABC4F-B57B-F795-739A-132B6FC56B30}"/>
              </a:ext>
            </a:extLst>
          </p:cNvPr>
          <p:cNvSpPr txBox="1"/>
          <p:nvPr/>
        </p:nvSpPr>
        <p:spPr>
          <a:xfrm>
            <a:off x="4060723" y="5773648"/>
            <a:ext cx="4800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 i="0">
                <a:latin typeface="Calibri"/>
              </a:defRPr>
            </a:pP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A53D3-CE31-2FF5-8A81-2744AC43AAC4}"/>
              </a:ext>
            </a:extLst>
          </p:cNvPr>
          <p:cNvSpPr txBox="1"/>
          <p:nvPr/>
        </p:nvSpPr>
        <p:spPr>
          <a:xfrm>
            <a:off x="917596" y="633432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0" i="1">
                <a:latin typeface="Calibri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2. Retrieval &amp; Generation Pipeline Flow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357B9E-BD8E-A719-AD04-51E99E98663E}"/>
              </a:ext>
            </a:extLst>
          </p:cNvPr>
          <p:cNvSpPr txBox="1"/>
          <p:nvPr/>
        </p:nvSpPr>
        <p:spPr>
          <a:xfrm flipH="1">
            <a:off x="5669280" y="512064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0" i="1">
                <a:latin typeface="Calibri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Figure 3. System Latency Heatmap (ms)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 descr="fig3_ra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3" y="2076042"/>
            <a:ext cx="5648526" cy="4066938"/>
          </a:xfrm>
          <a:prstGeom prst="rect">
            <a:avLst/>
          </a:prstGeom>
        </p:spPr>
      </p:pic>
      <p:pic>
        <p:nvPicPr>
          <p:cNvPr id="29" name="Picture 28" descr="fig5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719" y="2357593"/>
            <a:ext cx="5381088" cy="387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25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5BF9F-DFC3-F756-21DC-102BAEB7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2800" b="1" i="0"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Savings: Surgical Code Edits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ADCF40-6681-B682-8D3A-0BE6E4406C18}"/>
              </a:ext>
            </a:extLst>
          </p:cNvPr>
          <p:cNvSpPr txBox="1"/>
          <p:nvPr/>
        </p:nvSpPr>
        <p:spPr>
          <a:xfrm>
            <a:off x="581192" y="1987755"/>
            <a:ext cx="110296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Problem: Conventional coding agents rewrite entire code files (7,000+ tokens) to change a few lines of code, consuming high generation tokens and increasing timeout rates.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Surgical Approach: Implemented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apply_surgical_edit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requires the agent to output only search-and-replace target blocks.</a:t>
            </a: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AST-Based Header Fetching: Uses a parser (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fetch_file_headers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extract classes, functions, and import structures without loading the full implementation.</a:t>
            </a: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Token Truncation: Truncates verbose command line outputs and logs to fit strict context parameters (achieving up to 88.3% token savings).</a:t>
            </a:r>
          </a:p>
        </p:txBody>
      </p:sp>
    </p:spTree>
    <p:extLst>
      <p:ext uri="{BB962C8B-B14F-4D97-AF65-F5344CB8AC3E}">
        <p14:creationId xmlns:p14="http://schemas.microsoft.com/office/powerpoint/2010/main" val="2945785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BB6E-00FA-53E8-AB22-310783E1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spcAft>
                <a:spcPts val="600"/>
              </a:spcAft>
              <a:defRPr sz="2800" b="1" i="0"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Performance Benchmarks &amp; Metrics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56FA6-58EE-0DAD-FEFB-C135AEA9B71D}"/>
              </a:ext>
            </a:extLst>
          </p:cNvPr>
          <p:cNvSpPr txBox="1"/>
          <p:nvPr/>
        </p:nvSpPr>
        <p:spPr>
          <a:xfrm>
            <a:off x="505816" y="2197510"/>
            <a:ext cx="11489267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Structural Header Scan: Reduced context overhead by 99.79% (a 7,138-token file reduced to a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15-token header outline).</a:t>
            </a: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Surgical Generation: Reduced output token volume by 99.55% during codebase editing.</a:t>
            </a: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Semantic Context Compression: Compressed raw retrieval contexts by 20% to 58.3% while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retaining critical query terms.</a:t>
            </a: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 Output Summarization: Truncated long grep logs and compile outputs, achieving 88.3% token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4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 and preventing context bloating.</a:t>
            </a:r>
          </a:p>
        </p:txBody>
      </p:sp>
    </p:spTree>
    <p:extLst>
      <p:ext uri="{BB962C8B-B14F-4D97-AF65-F5344CB8AC3E}">
        <p14:creationId xmlns:p14="http://schemas.microsoft.com/office/powerpoint/2010/main" val="3539080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2A1AE6-F5F9-574A-EFDA-654F50C49DC1}"/>
              </a:ext>
            </a:extLst>
          </p:cNvPr>
          <p:cNvSpPr txBox="1"/>
          <p:nvPr/>
        </p:nvSpPr>
        <p:spPr>
          <a:xfrm>
            <a:off x="570271" y="665500"/>
            <a:ext cx="9784479" cy="52322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 i="0">
                <a:latin typeface="Calibri"/>
              </a:defRPr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Visuals: Performance Tables</a:t>
            </a:r>
            <a:endParaRPr lang="en-US" sz="3200" b="1" dirty="0">
              <a:ln w="6600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5BB717-8316-32F1-4CB6-C73290D32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456730"/>
              </p:ext>
            </p:extLst>
          </p:nvPr>
        </p:nvGraphicFramePr>
        <p:xfrm>
          <a:off x="570271" y="1737360"/>
          <a:ext cx="6685935" cy="3931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5784">
                  <a:extLst>
                    <a:ext uri="{9D8B030D-6E8A-4147-A177-3AD203B41FA5}">
                      <a16:colId xmlns:a16="http://schemas.microsoft.com/office/drawing/2014/main" val="587031442"/>
                    </a:ext>
                  </a:extLst>
                </a:gridCol>
                <a:gridCol w="1179666">
                  <a:extLst>
                    <a:ext uri="{9D8B030D-6E8A-4147-A177-3AD203B41FA5}">
                      <a16:colId xmlns:a16="http://schemas.microsoft.com/office/drawing/2014/main" val="1570289968"/>
                    </a:ext>
                  </a:extLst>
                </a:gridCol>
                <a:gridCol w="1179666">
                  <a:extLst>
                    <a:ext uri="{9D8B030D-6E8A-4147-A177-3AD203B41FA5}">
                      <a16:colId xmlns:a16="http://schemas.microsoft.com/office/drawing/2014/main" val="1214568926"/>
                    </a:ext>
                  </a:extLst>
                </a:gridCol>
                <a:gridCol w="907435">
                  <a:extLst>
                    <a:ext uri="{9D8B030D-6E8A-4147-A177-3AD203B41FA5}">
                      <a16:colId xmlns:a16="http://schemas.microsoft.com/office/drawing/2014/main" val="3090829101"/>
                    </a:ext>
                  </a:extLst>
                </a:gridCol>
                <a:gridCol w="1633384">
                  <a:extLst>
                    <a:ext uri="{9D8B030D-6E8A-4147-A177-3AD203B41FA5}">
                      <a16:colId xmlns:a16="http://schemas.microsoft.com/office/drawing/2014/main" val="2685248083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rPr sz="1200" dirty="0"/>
                        <a:t>Optimization Scenario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rPr sz="1200" dirty="0"/>
                        <a:t>Conventional Method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rPr sz="1200" dirty="0"/>
                        <a:t>Optimized Method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rPr sz="1200" dirty="0"/>
                        <a:t>Token Savings (%)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rPr sz="1200" dirty="0"/>
                        <a:t>Key Advantage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01343047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/>
                        <a:t>Imports &amp; Signatures Scan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/>
                        <a:t>Read full file (7,138 tokens)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 err="1"/>
                        <a:t>fetch_file_headers</a:t>
                      </a:r>
                      <a:r>
                        <a:rPr sz="1200" dirty="0"/>
                        <a:t> (15 tokens)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/>
                        <a:t>99.79%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/>
                        <a:t>Excludes implementation noise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7056484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/>
                        <a:t>Viewing Specific Function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/>
                        <a:t>Read full file (7,138 tokens)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 err="1"/>
                        <a:t>get_pruned_context</a:t>
                      </a:r>
                      <a:r>
                        <a:rPr sz="1200" dirty="0"/>
                        <a:t> (808 tokens)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/>
                        <a:t>88.68%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/>
                        <a:t>Isolates target code blocks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12317825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/>
                        <a:t>Applying Code Edits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/>
                        <a:t>Rewrite full file (7,138 tokens)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 err="1"/>
                        <a:t>apply_surgical_edit</a:t>
                      </a:r>
                      <a:r>
                        <a:rPr sz="1200" dirty="0"/>
                        <a:t> (32 tokens)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/>
                        <a:t>99.55%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/>
                        <a:t>Avoids rewriting full files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15962657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/>
                        <a:t>Log Output Parsing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/>
                        <a:t>Raw console logs (1,800 tokens)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/>
                        <a:t>Line-level truncation (211 tokens)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/>
                        <a:t>88.30%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/>
                        <a:t>Retains critical compile errors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67054339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/>
                        <a:t>Full Site Scaffolding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/>
                        <a:t>Traditional LLM flow (2,210 tokens)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/>
                        <a:t>Optimized agentic loop (115 tokens)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/>
                        <a:t>94.80%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200" dirty="0"/>
                        <a:t>Orchestrator-driven scaffolding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3156281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BB34CC3-A79D-4065-6BAB-E123F1644715}"/>
              </a:ext>
            </a:extLst>
          </p:cNvPr>
          <p:cNvSpPr txBox="1"/>
          <p:nvPr/>
        </p:nvSpPr>
        <p:spPr>
          <a:xfrm>
            <a:off x="7315200" y="5391090"/>
            <a:ext cx="4114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0" i="1">
                <a:latin typeface="Calibri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4. Token load comparison between conventional read/write and optimized surgical coding pipelines.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fig2_token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4326786" cy="365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31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2451-303C-35B8-6415-CA36B44C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2800" b="1" i="0"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62AF8-951E-2E32-8597-4CA0F1759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Aft>
                <a:spcPts val="600"/>
              </a:spcAft>
              <a:buNone/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Combining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multi-agent coordination with surgical context compression makes agentic development pipelines highly viable, fast, and cost-effective.</a:t>
            </a: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Architectural Insights: Semantic caches and AST-based signature lookups are essential to prevent context window bloating in production-grade software engineering agents.</a:t>
            </a: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hybrid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Weaviate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vector engine with local fallback ensures high retrieval accuracy and system availability, showing that token-optimized context engineering is critical for scaling autonomous agentic pipelines.</a:t>
            </a:r>
          </a:p>
        </p:txBody>
      </p:sp>
    </p:spTree>
    <p:extLst>
      <p:ext uri="{BB962C8B-B14F-4D97-AF65-F5344CB8AC3E}">
        <p14:creationId xmlns:p14="http://schemas.microsoft.com/office/powerpoint/2010/main" val="1215597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F3C38-D9DC-B3C3-20D7-99869672D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24232"/>
            <a:ext cx="11029616" cy="79172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 sz="2800" b="1" i="0"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D1D28AF-62E4-3EDB-CE4D-3F57CCE78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29236"/>
            <a:ext cx="11029615" cy="4229564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600"/>
              </a:spcAft>
              <a:buNone/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 and orchestration of multi-agent state machines (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routing supervisor pattern.</a:t>
            </a: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Core integration of vector database endpoints (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Weaviate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Cloud) and dynamic alpha shifting (0.25 / 0.75).</a:t>
            </a: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Advanced context pruning, token metrics, caching, and safety guardrails.</a:t>
            </a: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500" b="0" i="0">
                <a:latin typeface="Calibr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professional academic-level benchmarking and verification procedures.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EA6D3-9FDB-66A4-692A-0630C0AAEBB8}"/>
              </a:ext>
            </a:extLst>
          </p:cNvPr>
          <p:cNvSpPr txBox="1"/>
          <p:nvPr/>
        </p:nvSpPr>
        <p:spPr>
          <a:xfrm>
            <a:off x="7541341" y="614345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 i="0">
                <a:latin typeface="Calibri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821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106B-B1F6-EAA9-14C0-0AC21089E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18320" cy="1371600"/>
          </a:xfrm>
        </p:spPr>
        <p:txBody>
          <a:bodyPr/>
          <a:lstStyle/>
          <a:p>
            <a:pPr algn="ctr">
              <a:spcAft>
                <a:spcPts val="600"/>
              </a:spcAft>
              <a:defRPr sz="3600" b="1" i="0"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0885" y="3474720"/>
            <a:ext cx="5419753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600" b="0" i="0">
                <a:latin typeface="Calibri"/>
              </a:defRPr>
            </a:pPr>
            <a:r>
              <a:rPr sz="2000" dirty="0">
                <a:solidFill>
                  <a:schemeClr val="bg1"/>
                </a:solidFill>
              </a:rPr>
              <a:t>Presented by: Vasanth</a:t>
            </a:r>
            <a:r>
              <a:rPr lang="en-US" sz="2000" dirty="0">
                <a:solidFill>
                  <a:schemeClr val="bg1"/>
                </a:solidFill>
              </a:rPr>
              <a:t>avel K</a:t>
            </a:r>
            <a:r>
              <a:rPr sz="2000" dirty="0">
                <a:solidFill>
                  <a:schemeClr val="bg1"/>
                </a:solidFill>
              </a:rPr>
              <a:t> (Reg no: </a:t>
            </a:r>
            <a:r>
              <a:rPr lang="en-US" sz="2000" dirty="0">
                <a:solidFill>
                  <a:schemeClr val="bg1"/>
                </a:solidFill>
              </a:rPr>
              <a:t>24CS1021</a:t>
            </a:r>
            <a:r>
              <a:rPr sz="2000" dirty="0">
                <a:solidFill>
                  <a:schemeClr val="bg1"/>
                </a:solidFill>
              </a:rPr>
              <a:t>)</a:t>
            </a:r>
          </a:p>
          <a:p>
            <a:pPr algn="ctr">
              <a:spcAft>
                <a:spcPts val="600"/>
              </a:spcAft>
              <a:defRPr sz="1600" b="0" i="0">
                <a:latin typeface="Calibri"/>
              </a:defRPr>
            </a:pPr>
            <a:r>
              <a:rPr sz="2000" dirty="0">
                <a:solidFill>
                  <a:schemeClr val="bg1"/>
                </a:solidFill>
              </a:rPr>
              <a:t>Department of </a:t>
            </a:r>
            <a:r>
              <a: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2000" dirty="0">
                <a:solidFill>
                  <a:schemeClr val="bg1"/>
                </a:solidFill>
              </a:rPr>
              <a:t> Science and Engineering</a:t>
            </a:r>
          </a:p>
          <a:p>
            <a:pPr algn="ctr">
              <a:spcAft>
                <a:spcPts val="600"/>
              </a:spcAft>
              <a:defRPr sz="1600" b="0" i="0">
                <a:latin typeface="Calibri"/>
              </a:defRPr>
            </a:pPr>
            <a:r>
              <a:rPr sz="2000" dirty="0">
                <a:solidFill>
                  <a:schemeClr val="bg1"/>
                </a:solidFill>
              </a:rPr>
              <a:t>Chennai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96719207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</TotalTime>
  <Words>1035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Gill Sans MT</vt:lpstr>
      <vt:lpstr>Times New Roman</vt:lpstr>
      <vt:lpstr>Wingdings 2</vt:lpstr>
      <vt:lpstr>Dividend</vt:lpstr>
      <vt:lpstr>INTERNSHIP (JUNE - 2026)</vt:lpstr>
      <vt:lpstr>INTRODUCTION</vt:lpstr>
      <vt:lpstr>Goals of the Internship</vt:lpstr>
      <vt:lpstr>Why Modular RAG &amp; Multi-Agents?</vt:lpstr>
      <vt:lpstr>Methodology: Multi-Agent Architecture</vt:lpstr>
      <vt:lpstr>Methodology: Core Retrieval Innovations</vt:lpstr>
      <vt:lpstr>Visuals: RAG &amp; Orchestration Engine Flow</vt:lpstr>
      <vt:lpstr>Performance Savings: Surgical Code Edits</vt:lpstr>
      <vt:lpstr>Performance Benchmarks &amp; Metrics</vt:lpstr>
      <vt:lpstr>PowerPoint Presentation</vt:lpstr>
      <vt:lpstr>Conclusion</vt:lpstr>
      <vt:lpstr>OUTCOME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Anish</dc:creator>
  <cp:lastModifiedBy>Vasanthavel K</cp:lastModifiedBy>
  <cp:revision>10</cp:revision>
  <dcterms:created xsi:type="dcterms:W3CDTF">2025-01-23T14:30:56Z</dcterms:created>
  <dcterms:modified xsi:type="dcterms:W3CDTF">2026-07-04T05:48:32Z</dcterms:modified>
</cp:coreProperties>
</file>